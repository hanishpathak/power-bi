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3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66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4114800" cy="4114800"/>
          </a:xfrm>
          <a:prstGeom prst="ellipse">
            <a:avLst/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55680" y="4754880"/>
            <a:ext cx="2743200" cy="2743200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893313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#DAX   #PowerBI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DAX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Intelligence Formulas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375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MTD, QTD, YTD, Previous Period and SPLY (Same Period Last Year) measures — what they do, when to use them, with examples.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4343400"/>
            <a:ext cx="1280160" cy="0"/>
          </a:xfrm>
          <a:prstGeom prst="line">
            <a:avLst/>
          </a:prstGeom>
          <a:noFill/>
          <a:ln w="381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 •  Trend Comparison  •  Executive Dashboards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DAX Time Intelligence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4F815520-2EC3-38C7-840F-14FAC11EE567}"/>
              </a:ext>
            </a:extLst>
          </p:cNvPr>
          <p:cNvSpPr txBox="1"/>
          <p:nvPr/>
        </p:nvSpPr>
        <p:spPr>
          <a:xfrm>
            <a:off x="3131353" y="914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#DAX   #PowerBI</a:t>
            </a:r>
            <a:endParaRPr lang="en-US" sz="11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FF020885-93B1-89D5-E7CF-B5F48764BC27}"/>
              </a:ext>
            </a:extLst>
          </p:cNvPr>
          <p:cNvSpPr txBox="1"/>
          <p:nvPr/>
        </p:nvSpPr>
        <p:spPr>
          <a:xfrm>
            <a:off x="499499" y="1293876"/>
            <a:ext cx="3814354" cy="287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- Hanish Pathak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flow of DAX Time Intelligence formulas — from the base measure to year-over-year comparison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758952"/>
          </a:xfrm>
          <a:prstGeom prst="roundRect">
            <a:avLst>
              <a:gd name="adj" fmla="val 96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23644"/>
            <a:ext cx="512064" cy="512064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7236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025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measure — the foundation for every calculation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758952"/>
          </a:xfrm>
          <a:prstGeom prst="roundRect">
            <a:avLst>
              <a:gd name="adj" fmla="val 96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36792" y="1723644"/>
            <a:ext cx="512064" cy="512064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36792" y="17236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MTD / QTD / YTD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0025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 for the current period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523744"/>
            <a:ext cx="5349240" cy="758952"/>
          </a:xfrm>
          <a:prstGeom prst="roundRect">
            <a:avLst>
              <a:gd name="adj" fmla="val 96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2647188"/>
            <a:ext cx="512064" cy="512064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13232" y="26471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26151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Month / Quarter / Year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2926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for the full previous period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523744"/>
            <a:ext cx="5349240" cy="758952"/>
          </a:xfrm>
          <a:prstGeom prst="roundRect">
            <a:avLst>
              <a:gd name="adj" fmla="val 96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36792" y="2647188"/>
            <a:ext cx="512064" cy="512064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36792" y="26471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26151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MTD / QTD / YTD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2926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running total for the previous period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447288"/>
            <a:ext cx="5349240" cy="758952"/>
          </a:xfrm>
          <a:prstGeom prst="roundRect">
            <a:avLst>
              <a:gd name="adj" fmla="val 96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3232" y="3570732"/>
            <a:ext cx="512064" cy="512064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13232" y="35707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3538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SPLY MTD / QTD / YTD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38496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Period Last Year — for YoY growth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447288"/>
            <a:ext cx="5349240" cy="758952"/>
          </a:xfrm>
          <a:prstGeom prst="roundRect">
            <a:avLst>
              <a:gd name="adj" fmla="val 96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36792" y="3570732"/>
            <a:ext cx="512064" cy="512064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336792" y="35707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3538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38496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in dashboards and reporting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DAX Time Intelligence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MEASURE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Total_Sales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6184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Total_Sales =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CALCULATE(SUM(Orders[Sales]))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SUM of the Sales column in the Orders table — no filter or time context involved. This is the 'building block' for every other time-intelligence measure. Wrapping it in CALCULATE gives it context transition support, meaning when it's called inside other measures, filters (such as a date range) apply automatically.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35240" y="1508760"/>
            <a:ext cx="3977640" cy="3749040"/>
          </a:xfrm>
          <a:prstGeom prst="roundRect">
            <a:avLst>
              <a:gd name="adj" fmla="val 2439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90956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423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0" y="2423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2788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05-Sep-26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2788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₹12,000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09560" y="3090672"/>
            <a:ext cx="342900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909560" y="3154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06-Sep-26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3154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₹8,500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09560" y="3456432"/>
            <a:ext cx="342900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909560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07-Sep-26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₹15,300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09560" y="3822192"/>
            <a:ext cx="342900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09560" y="3931920"/>
            <a:ext cx="3429000" cy="0"/>
          </a:xfrm>
          <a:prstGeom prst="line">
            <a:avLst/>
          </a:prstGeom>
          <a:noFill/>
          <a:ln w="12700">
            <a:solidFill>
              <a:srgbClr val="F2C8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09560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=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4069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₹35,800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DAX Time Intelligence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MTD, QTD, YTD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 for the current period — Month-to-Date, Quarter-to-Date, Year-to-Date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1848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184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MTD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60120" y="2532888"/>
            <a:ext cx="2788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TOTALMTD([Total_Sales],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DATESMTD(Orders[Order Date]))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947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from the start of the month up to today.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00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029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today is 9-Sep, the sum of 1-Sep through 9-Sep.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141732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161848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617720" y="16184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QTD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17720" y="24231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800600" y="2532888"/>
            <a:ext cx="2788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TOTALQTD([Total_Sales],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DATESQTD(Orders[Order Date]))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37947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0233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from the start of the quarter up to today.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800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5029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from the start of Q3 (Jul-Sep) through 9-Sep.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141732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458200" y="161848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458200" y="16184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YTD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458200" y="242316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641080" y="2532888"/>
            <a:ext cx="2788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TOTALYTD([Total_Sales],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DATESYTD(Orders[Order Date]))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458200" y="37947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458200" y="40233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 the financial/calendar year to date.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48006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5029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sum from 1-Jan through 9-Sep.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DAX Time Intelligence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Month / Quarter / Year Total Sales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for the FULL previous period — the base for comparisons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Month Total Sales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842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for the entire previous month (e.g. all of August).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676656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846320" y="1709928"/>
            <a:ext cx="6400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CALCULATE([Total_Sales],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PREVIOUSMONTH(DATESMTD(Orders[Order Date])))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227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Quarter Total Sales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7588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for the entire previous quarter (e.g. all of Q2).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291840"/>
            <a:ext cx="676656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3401568"/>
            <a:ext cx="6400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CALCULATE([Total_Sales],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PREVIOUSQUARTER(DATESQTD(Orders[Order Date])))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4919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Year Total Sales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3675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for the entire previous year (e.g. all of 2025).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4983480"/>
            <a:ext cx="676656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846320" y="5093208"/>
            <a:ext cx="64008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CALCULATE([Total_Sales],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PREVIOUSYEAR(DATESYTD(Orders[Order Date])))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DAX Time Intelligence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MTD, QTD, YTD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“comparable” running total for the previous period — as many days/months as have passed so far, mirrored onto the previous period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MTD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60120" y="2231136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([Previous Month Total Sales] + [Current MTD])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627632"/>
            <a:ext cx="0" cy="109728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26280" y="16002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today is 9-Sep, this gives the comparable sales for 1-9 August (Previous Month Total adjusted for the matching remaining window).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QTD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3721608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60120" y="3831336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([Previous Quarter Total Sales] + [Current QTD])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3227832"/>
            <a:ext cx="0" cy="109728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26280" y="32004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comparable portion of the previous quarter as has elapsed in the current quarter so far.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YTD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5321808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60120" y="5431536"/>
            <a:ext cx="29260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([Previous Year Total Sales] + [Current YTD])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4828032"/>
            <a:ext cx="0" cy="109728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26280" y="48006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comparable total from 1-Jan of the previous year through the matching date, mirroring how much of this year has passed.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formula combines 'PREVIOUS...Total Sales' with 'Current ...' to build the correct comparable window, so an MTD-vs-MTD comparison stays fair.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DAX Time Intelligence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(YoY)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SPLY — Same Period Last Year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for the EXACT same date range last year — the essential measure for calculating YoY growth 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0756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SPLY MTD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5603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60120" y="2670048"/>
            <a:ext cx="27889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CALCULATE([Current MTD],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SAMEPERIODLASTYEAR(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Orders[Order Date]))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40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87368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year's 1–9 Sep sales vs. last year's 1–9 Sep sales.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87452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17720" y="20756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SPLY QTD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25603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00600" y="2670048"/>
            <a:ext cx="27889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CALCULATE([Current QTD],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SAMEPERIODLASTYEAR(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Orders[Order Date]))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840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087368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year's Q3-to-date vs. the same portion of last year's Q3.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187452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458200" y="20756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SPLY YTD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58200" y="25603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111111"/>
          </a:solidFill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641080" y="2670048"/>
            <a:ext cx="27889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CALCULATE([Current YTD],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SAMEPERIODLASTYEAR(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Orders[Order Date]))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384048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4087368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year's Jan–Sep total vs. last year's Jan–Sep total.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DAX Time Intelligence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It All in One Example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today's date is 9-Sep-2026. Here's how these measures would appear on a card visual: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1B1B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Covered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46404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Value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642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1920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MTD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9202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Sep – 9 Sep 2026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464040" y="192024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₹4,85,000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24871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QTD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48716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 – 9 Sep 2026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464040" y="24871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₹18,20,000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110642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305409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YTD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05409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 – 9 Sep 2026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464040" y="305409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₹1,02,50,000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21024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36210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Month Total Sales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62102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August 2026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464040" y="362102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₹15,90,000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87952"/>
            <a:ext cx="110642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77240" y="41879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MTD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41879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Aug – 9 Aug 2026 (comparable)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464040" y="418795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₹4,60,000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77240" y="47548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SPLY MTD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47548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Sep – 9 Sep 2025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464040" y="47548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7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₹4,10,000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1463040"/>
            <a:ext cx="0" cy="3858768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48640" y="54589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SPLY MTD (₹4,10,000) vs Current MTD (₹4,85,000) instantly gives YoY growth = +18.3%.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DAX Time Intelligence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These Formulas Are Used in Power BI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MTD/QTD/YTD cards instantly show leadership ‘how much has been achieved so far.’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2344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457200" cy="457200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57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Analysis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688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SPLY measures surface growth %, decline trends, and seasonality.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23444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66760" y="1463040"/>
            <a:ext cx="457200" cy="457200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66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057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vs Achievement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4688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period totals drive target-setting and budget comparisons.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 Line Charts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463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Current vs Previous vs SPLY together shows a clear visual trend.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6118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3840480"/>
            <a:ext cx="457200" cy="457200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5720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Finance Reports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8463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period-over-period variance in monthly/quarterly close reports.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36118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66760" y="3840480"/>
            <a:ext cx="457200" cy="457200"/>
          </a:xfrm>
          <a:prstGeom prst="ellipse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3667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KPI Tracking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8463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a red flag / alert when Current MTD drops below Previous MTD.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DAX Time Intelligence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Tips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build a dedicated Date/Calendar table and relate it to the Orders table — DATESMTD/QTD/YTD only work correctly against a marked date table.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94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base measure (Total_Sales) wrapped in CALCULATE so context transition behaves correctly everywhere it's used.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546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naming conventions consistent (Current, Previous, SPLY) — it avoids confusion across the dashboard.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1148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SPLY measures to also build an automatic % growth measure: DIVIDE([Current MTD]-[SPLY MTD],[SPLY MTD]).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0749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larger models, use variables (VAR) for performance so the same calculation isn't evaluated repeatedly.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DAX Time Intelligence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2424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 Use Time Intelligence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C8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Power BI with Confidence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→ Current (MTD/QTD/YTD) → Previous Period → SPLY — remember this 4-step flow and apply it to any sales or finance dashboard.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448056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8368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#DAX   #PowerBI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DAX Time Intelligence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1312</Words>
  <Application>Microsoft Office PowerPoint</Application>
  <PresentationFormat>Widescreen</PresentationFormat>
  <Paragraphs>215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Hanish Pathak</cp:lastModifiedBy>
  <cp:revision>2</cp:revision>
  <dcterms:created xsi:type="dcterms:W3CDTF">2026-09-09T05:04:00Z</dcterms:created>
  <dcterms:modified xsi:type="dcterms:W3CDTF">2026-09-09T05:11:24Z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2026-09-09T05:10:24Z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85e89f01-74db-4f33-b6d4-cf1dafa1f386</vt:lpwstr>
  </property>
  <property fmtid="{D5CDD505-2E9C-101B-9397-08002B2CF9AE}" pid="7" name="MSIP_Label_defa4170-0d19-0005-0004-bc88714345d2_ActionId">
    <vt:lpwstr>f7abc1f2-570e-4cbc-9eff-d7cca38110d3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