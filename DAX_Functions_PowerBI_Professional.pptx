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Math And Science Formulas">
            <a:extLst>
              <a:ext uri="{FF2B5EF4-FFF2-40B4-BE49-F238E27FC236}">
                <a16:creationId xmlns:a16="http://schemas.microsoft.com/office/drawing/2014/main" id="{0B6E4AE3-CA96-2FBD-02DB-CB0BC76DE28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5594" r="19192" b="-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500">
                <a:solidFill>
                  <a:srgbClr val="FFFFFF"/>
                </a:solidFill>
              </a:rPr>
              <a:t>Understanding DAX Functions in Power BI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07204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</a:rPr>
              <a:t>Data Analysis Expressions for Business Intelligence</a:t>
            </a:r>
          </a:p>
          <a:p>
            <a:pPr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</a:rPr>
              <a:t>Presented by Hanish Pathak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Introduction to DAX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What is DAX?</a:t>
            </a:r>
          </a:p>
          <a:p>
            <a:pPr lvl="1"/>
            <a:r>
              <a:rPr lang="en-US" sz="1700"/>
              <a:t>Data Analysis Expressions</a:t>
            </a:r>
          </a:p>
          <a:p>
            <a:pPr lvl="1"/>
            <a:r>
              <a:rPr lang="en-US" sz="1700"/>
              <a:t>Used in Power BI, Power Pivot, SSAS</a:t>
            </a:r>
          </a:p>
          <a:p>
            <a:pPr lvl="1"/>
            <a:r>
              <a:rPr lang="en-US" sz="1700"/>
              <a:t>Formula language for data modeling and calculations</a:t>
            </a:r>
          </a:p>
        </p:txBody>
      </p:sp>
      <p:pic>
        <p:nvPicPr>
          <p:cNvPr id="14" name="Picture 13" descr="Water droplet on a petal">
            <a:extLst>
              <a:ext uri="{FF2B5EF4-FFF2-40B4-BE49-F238E27FC236}">
                <a16:creationId xmlns:a16="http://schemas.microsoft.com/office/drawing/2014/main" id="{8A8F09B6-4DA3-084E-0926-049F38C244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797" r="30441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Why DAX is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Create Measures and Calculated Columns</a:t>
            </a:r>
          </a:p>
          <a:p>
            <a:pPr lvl="1"/>
            <a:r>
              <a:rPr lang="en-US" sz="1700"/>
              <a:t>Advanced Aggregations</a:t>
            </a:r>
          </a:p>
          <a:p>
            <a:pPr lvl="1"/>
            <a:r>
              <a:rPr lang="en-US" sz="1700"/>
              <a:t>Time Intelligence Analysis</a:t>
            </a:r>
          </a:p>
          <a:p>
            <a:pPr lvl="1"/>
            <a:r>
              <a:rPr lang="en-US" sz="1700"/>
              <a:t>Dynamic Business Reporting</a:t>
            </a:r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A3A18233-646A-BF6C-201B-85F4C935E4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08" r="39214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Types of DAX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Calculated Column – Row by Row Calculation</a:t>
            </a:r>
          </a:p>
          <a:p>
            <a:pPr lvl="1"/>
            <a:r>
              <a:rPr lang="en-US" sz="1700"/>
              <a:t>Measure – Calculated at Runtime</a:t>
            </a:r>
          </a:p>
          <a:p>
            <a:pPr lvl="1"/>
            <a:r>
              <a:rPr lang="en-US" sz="1700"/>
              <a:t>Calculated Table – New Table using DAX</a:t>
            </a:r>
          </a:p>
        </p:txBody>
      </p:sp>
      <p:pic>
        <p:nvPicPr>
          <p:cNvPr id="5" name="Picture 4" descr="Colorful math learning objects">
            <a:extLst>
              <a:ext uri="{FF2B5EF4-FFF2-40B4-BE49-F238E27FC236}">
                <a16:creationId xmlns:a16="http://schemas.microsoft.com/office/drawing/2014/main" id="{F342E649-DAC6-0DBA-ABD5-EA9971984A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52" r="34097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Basic Aggregate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SUM()</a:t>
            </a:r>
          </a:p>
          <a:p>
            <a:pPr lvl="1"/>
            <a:r>
              <a:rPr lang="en-US" sz="1700"/>
              <a:t>AVERAGE()</a:t>
            </a:r>
          </a:p>
          <a:p>
            <a:pPr lvl="1"/>
            <a:r>
              <a:rPr lang="en-US" sz="1700"/>
              <a:t>MIN()</a:t>
            </a:r>
          </a:p>
          <a:p>
            <a:pPr lvl="1"/>
            <a:r>
              <a:rPr lang="en-US" sz="1700"/>
              <a:t>MAX()</a:t>
            </a:r>
          </a:p>
          <a:p>
            <a:pPr lvl="1"/>
            <a:r>
              <a:rPr lang="en-US" sz="1700"/>
              <a:t>COUNT(), DISTINCTCOUNT()</a:t>
            </a:r>
          </a:p>
        </p:txBody>
      </p:sp>
      <p:pic>
        <p:nvPicPr>
          <p:cNvPr id="5" name="Picture 4" descr="Formulas written on a blackboard">
            <a:extLst>
              <a:ext uri="{FF2B5EF4-FFF2-40B4-BE49-F238E27FC236}">
                <a16:creationId xmlns:a16="http://schemas.microsoft.com/office/drawing/2014/main" id="{469A3507-E782-D0B7-DC78-990D9AD85B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56" r="29493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Example – Aggregate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Total Sales = SUM(Sales[Amount])</a:t>
            </a:r>
          </a:p>
          <a:p>
            <a:pPr lvl="1"/>
            <a:r>
              <a:rPr lang="en-US" sz="1700"/>
              <a:t>Total Orders = COUNTROWS(Orders)</a:t>
            </a:r>
          </a:p>
        </p:txBody>
      </p:sp>
      <p:pic>
        <p:nvPicPr>
          <p:cNvPr id="5" name="Picture 4" descr="Codes on papers">
            <a:extLst>
              <a:ext uri="{FF2B5EF4-FFF2-40B4-BE49-F238E27FC236}">
                <a16:creationId xmlns:a16="http://schemas.microsoft.com/office/drawing/2014/main" id="{EF74F414-9E6C-F996-92F9-80029F97A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35" r="29588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Logical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IF()</a:t>
            </a:r>
          </a:p>
          <a:p>
            <a:pPr lvl="1"/>
            <a:r>
              <a:rPr lang="en-US" sz="1700"/>
              <a:t>SWITCH()</a:t>
            </a:r>
          </a:p>
          <a:p>
            <a:pPr lvl="1"/>
            <a:r>
              <a:rPr lang="en-US" sz="1700"/>
              <a:t>Used for condition-based calculations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FA81D5-6DC5-E6EA-13AE-7D4621A949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26" r="3863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264A61-6AE3-4DC0-A455-5EDC604E3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2F23900D-D5D0-4EE8-80F4-D25038DE2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C55310DE-258B-4134-9DA8-DC4C2D0EBE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91EE10-D5F3-48FA-BE55-F24A0BE59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7EF3BBC7-022F-4CD5-BE8E-BD8206C4B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A877CB3E-FE2B-43A7-A987-F921A9249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483" y="841664"/>
            <a:ext cx="3866304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Example – IF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1015" y="841664"/>
            <a:ext cx="3451888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Sales Category = IF(Sales[Amount] &gt; 5000, "High", "Low")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56007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27275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990600"/>
            <a:ext cx="84582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676400"/>
            <a:ext cx="2857500" cy="3505200"/>
          </a:xfrm>
        </p:spPr>
        <p:txBody>
          <a:bodyPr anchor="t">
            <a:normAutofit/>
          </a:bodyPr>
          <a:lstStyle/>
          <a:p>
            <a:r>
              <a:rPr lang="en-US" sz="3500"/>
              <a:t>Example – SWITCH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3" y="1676400"/>
            <a:ext cx="4229097" cy="3505200"/>
          </a:xfrm>
        </p:spPr>
        <p:txBody>
          <a:bodyPr>
            <a:normAutofit/>
          </a:bodyPr>
          <a:lstStyle/>
          <a:p>
            <a:r>
              <a:rPr lang="en-US" sz="2100">
                <a:solidFill>
                  <a:schemeClr val="tx1">
                    <a:alpha val="55000"/>
                  </a:schemeClr>
                </a:solidFill>
              </a:rPr>
              <a:t>Grade = SWITCH(TRUE(),</a:t>
            </a:r>
          </a:p>
          <a:p>
            <a:pPr lvl="1"/>
            <a:r>
              <a:rPr lang="en-US" sz="2100">
                <a:solidFill>
                  <a:schemeClr val="tx1">
                    <a:alpha val="55000"/>
                  </a:schemeClr>
                </a:solidFill>
              </a:rPr>
              <a:t>Sales[Amount] &gt; 10000, "A",</a:t>
            </a:r>
          </a:p>
          <a:p>
            <a:pPr lvl="1"/>
            <a:r>
              <a:rPr lang="en-US" sz="2100">
                <a:solidFill>
                  <a:schemeClr val="tx1">
                    <a:alpha val="55000"/>
                  </a:schemeClr>
                </a:solidFill>
              </a:rPr>
              <a:t>Sales[Amount] &gt; 5000, "B",</a:t>
            </a:r>
          </a:p>
          <a:p>
            <a:pPr lvl="1"/>
            <a:r>
              <a:rPr lang="en-US" sz="2100">
                <a:solidFill>
                  <a:schemeClr val="tx1">
                    <a:alpha val="55000"/>
                  </a:schemeClr>
                </a:solidFill>
              </a:rPr>
              <a:t>"C")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115" y="741391"/>
            <a:ext cx="5028904" cy="1616203"/>
          </a:xfrm>
        </p:spPr>
        <p:txBody>
          <a:bodyPr anchor="b">
            <a:normAutofit/>
          </a:bodyPr>
          <a:lstStyle/>
          <a:p>
            <a:r>
              <a:rPr lang="en-US" sz="2800"/>
              <a:t>Text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3115" y="2533476"/>
            <a:ext cx="5028904" cy="3447832"/>
          </a:xfrm>
        </p:spPr>
        <p:txBody>
          <a:bodyPr anchor="t">
            <a:normAutofit/>
          </a:bodyPr>
          <a:lstStyle/>
          <a:p>
            <a:pPr algn="ctr"/>
            <a:r>
              <a:rPr lang="en-US" sz="1700"/>
              <a:t>CONCATENATE()</a:t>
            </a:r>
          </a:p>
          <a:p>
            <a:pPr lvl="1" algn="ctr"/>
            <a:r>
              <a:rPr lang="en-US" sz="1700"/>
              <a:t>LEFT(), RIGHT(), MID()</a:t>
            </a:r>
          </a:p>
          <a:p>
            <a:pPr lvl="1" algn="ctr"/>
            <a:r>
              <a:rPr lang="en-US" sz="1700"/>
              <a:t>UPPER(), LOWER(), LEN()</a:t>
            </a:r>
          </a:p>
          <a:p>
            <a:pPr lvl="1" algn="ctr"/>
            <a:r>
              <a:rPr lang="en-US" sz="1700"/>
              <a:t>Full Name = FirstName &amp; " " &amp; LastName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F042CA-1AB3-5530-1155-8018D6D6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12250" y="2221700"/>
            <a:ext cx="123362" cy="9155399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5A982-4141-9143-22DC-C0713B39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157616" y="4576333"/>
            <a:ext cx="123362" cy="4446132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Date &amp; Time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TODAY(), NOW()</a:t>
            </a:r>
          </a:p>
          <a:p>
            <a:pPr lvl="1"/>
            <a:r>
              <a:rPr lang="en-US" sz="1700"/>
              <a:t>YEAR(), MONTH(), DAY()</a:t>
            </a:r>
          </a:p>
          <a:p>
            <a:pPr lvl="1"/>
            <a:r>
              <a:rPr lang="en-US" sz="1700"/>
              <a:t>FORMAT()</a:t>
            </a:r>
          </a:p>
        </p:txBody>
      </p:sp>
      <p:pic>
        <p:nvPicPr>
          <p:cNvPr id="5" name="Picture 4" descr="Hourglass and a calendar">
            <a:extLst>
              <a:ext uri="{FF2B5EF4-FFF2-40B4-BE49-F238E27FC236}">
                <a16:creationId xmlns:a16="http://schemas.microsoft.com/office/drawing/2014/main" id="{FBDBE0BF-4A59-03A8-88D2-E0D8196178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530" r="4754" b="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115" y="741391"/>
            <a:ext cx="5028904" cy="1616203"/>
          </a:xfrm>
        </p:spPr>
        <p:txBody>
          <a:bodyPr anchor="b">
            <a:normAutofit/>
          </a:bodyPr>
          <a:lstStyle/>
          <a:p>
            <a:r>
              <a:rPr lang="en-US" sz="2800"/>
              <a:t>Time Intelligence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3115" y="2533476"/>
            <a:ext cx="5028904" cy="3447832"/>
          </a:xfrm>
        </p:spPr>
        <p:txBody>
          <a:bodyPr anchor="t">
            <a:normAutofit/>
          </a:bodyPr>
          <a:lstStyle/>
          <a:p>
            <a:pPr algn="ctr"/>
            <a:r>
              <a:rPr lang="en-US" sz="1700"/>
              <a:t>TOTALYTD()</a:t>
            </a:r>
          </a:p>
          <a:p>
            <a:pPr lvl="1" algn="ctr"/>
            <a:r>
              <a:rPr lang="en-US" sz="1700"/>
              <a:t>SAMEPERIODLASTYEAR()</a:t>
            </a:r>
          </a:p>
          <a:p>
            <a:pPr lvl="1" algn="ctr"/>
            <a:r>
              <a:rPr lang="en-US" sz="1700"/>
              <a:t>DATEADD()</a:t>
            </a:r>
          </a:p>
          <a:p>
            <a:pPr lvl="1" algn="ctr"/>
            <a:r>
              <a:rPr lang="en-US" sz="1700"/>
              <a:t>DATESYTD()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F042CA-1AB3-5530-1155-8018D6D6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12250" y="2221700"/>
            <a:ext cx="123362" cy="9155399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5A982-4141-9143-22DC-C0713B39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157616" y="4576333"/>
            <a:ext cx="123362" cy="4446132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9144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120676"/>
            <a:ext cx="5266135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Example – YTD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268" y="3809999"/>
            <a:ext cx="5269314" cy="10127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2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Sales YTD = TOTALYTD(SUM(Sales[Amount]), Sales[Date])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CALCULATE Function (Most Important)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Changes Filter Context</a:t>
            </a:r>
          </a:p>
          <a:p>
            <a:pPr lvl="1"/>
            <a:r>
              <a:rPr lang="en-US" sz="1700"/>
              <a:t>Most Powerful DAX Function</a:t>
            </a:r>
          </a:p>
          <a:p>
            <a:pPr lvl="1"/>
            <a:r>
              <a:rPr lang="en-US" sz="1700"/>
              <a:t>Used with filters and conditions</a:t>
            </a:r>
          </a:p>
        </p:txBody>
      </p:sp>
      <p:pic>
        <p:nvPicPr>
          <p:cNvPr id="5" name="Picture 4" descr="Formulas written on a blackboard">
            <a:extLst>
              <a:ext uri="{FF2B5EF4-FFF2-40B4-BE49-F238E27FC236}">
                <a16:creationId xmlns:a16="http://schemas.microsoft.com/office/drawing/2014/main" id="{BCCCB83A-BCE7-286C-9CDF-4DEE62BDD1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56" r="29493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hite calculator">
            <a:extLst>
              <a:ext uri="{FF2B5EF4-FFF2-40B4-BE49-F238E27FC236}">
                <a16:creationId xmlns:a16="http://schemas.microsoft.com/office/drawing/2014/main" id="{548FB812-CE49-D873-3E73-FE30D81D3D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37" r="48969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US" sz="3500"/>
              <a:t>Example – CALCULATE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US" sz="1700"/>
              <a:t>High Sales = CALCULATE(</a:t>
            </a:r>
          </a:p>
          <a:p>
            <a:pPr lvl="1"/>
            <a:r>
              <a:rPr lang="en-US" sz="1700"/>
              <a:t>SUM(Sales[Amount]),</a:t>
            </a:r>
          </a:p>
          <a:p>
            <a:pPr lvl="1"/>
            <a:r>
              <a:rPr lang="en-US" sz="1700"/>
              <a:t>Sales[Region] = "East")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ample being pipetted into a petri dish">
            <a:extLst>
              <a:ext uri="{FF2B5EF4-FFF2-40B4-BE49-F238E27FC236}">
                <a16:creationId xmlns:a16="http://schemas.microsoft.com/office/drawing/2014/main" id="{183D5309-454E-4787-2EA4-D58152D4FF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663" r="9109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US" sz="3500"/>
              <a:t>FILTER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US" sz="1700"/>
              <a:t>Used for advanced filtering</a:t>
            </a:r>
          </a:p>
          <a:p>
            <a:pPr lvl="1"/>
            <a:r>
              <a:rPr lang="en-US" sz="1700"/>
              <a:t>Works inside CALCULATE()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pPr algn="l"/>
            <a:r>
              <a:rPr lang="en-US" sz="3100">
                <a:solidFill>
                  <a:schemeClr val="bg1"/>
                </a:solidFill>
              </a:rPr>
              <a:t>Relationship Functions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9982" y="643465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982" y="850052"/>
            <a:ext cx="4204029" cy="5326911"/>
          </a:xfrm>
        </p:spPr>
        <p:txBody>
          <a:bodyPr>
            <a:normAutofit/>
          </a:bodyPr>
          <a:lstStyle/>
          <a:p>
            <a:r>
              <a:rPr lang="en-US" sz="2100"/>
              <a:t>RELATED()</a:t>
            </a:r>
          </a:p>
          <a:p>
            <a:pPr lvl="1"/>
            <a:r>
              <a:rPr lang="en-US" sz="2100"/>
              <a:t>RELATEDTABLE()</a:t>
            </a:r>
          </a:p>
          <a:p>
            <a:pPr lvl="1"/>
            <a:r>
              <a:rPr lang="en-US" sz="2100"/>
              <a:t>Used to fetch data from related tables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Row Context vs Filter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Row Context – Calculated Column</a:t>
            </a:r>
          </a:p>
          <a:p>
            <a:pPr lvl="1"/>
            <a:r>
              <a:rPr lang="en-US" sz="1700"/>
              <a:t>Filter Context – Measure</a:t>
            </a:r>
          </a:p>
          <a:p>
            <a:pPr lvl="1"/>
            <a:r>
              <a:rPr lang="en-US" sz="1700"/>
              <a:t>Understanding context is critical in DAX</a:t>
            </a: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240BC8B0-DE10-8EB6-A3FE-E58BDC6272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10" r="34776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ALL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Removes filter context</a:t>
            </a:r>
          </a:p>
          <a:p>
            <a:pPr lvl="1"/>
            <a:r>
              <a:rPr lang="en-US" sz="1700"/>
              <a:t>Used inside CALCULATE()</a:t>
            </a:r>
          </a:p>
        </p:txBody>
      </p:sp>
      <p:pic>
        <p:nvPicPr>
          <p:cNvPr id="5" name="Picture 4" descr="Adjustable measurement tool">
            <a:extLst>
              <a:ext uri="{FF2B5EF4-FFF2-40B4-BE49-F238E27FC236}">
                <a16:creationId xmlns:a16="http://schemas.microsoft.com/office/drawing/2014/main" id="{53130C8A-171A-28AC-D304-3C146AD6A6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745" r="17705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EBFA4C8-C301-60A7-C96E-E85360F5D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1729117"/>
          </a:xfrm>
          <a:prstGeom prst="rect">
            <a:avLst/>
          </a:prstGeom>
          <a:ln>
            <a:noFill/>
          </a:ln>
          <a:effectLst>
            <a:outerShdw blurRad="368300" dist="101600" dir="546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283714"/>
            <a:ext cx="7430100" cy="1161688"/>
          </a:xfrm>
        </p:spPr>
        <p:txBody>
          <a:bodyPr anchor="ctr">
            <a:normAutofit/>
          </a:bodyPr>
          <a:lstStyle/>
          <a:p>
            <a:r>
              <a:rPr lang="en-US" sz="3500"/>
              <a:t>RANKX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0170" y="2217761"/>
            <a:ext cx="5760720" cy="4034116"/>
          </a:xfrm>
        </p:spPr>
        <p:txBody>
          <a:bodyPr anchor="ctr">
            <a:normAutofit/>
          </a:bodyPr>
          <a:lstStyle/>
          <a:p>
            <a:r>
              <a:rPr lang="en-US" sz="1700"/>
              <a:t>Used for ranking</a:t>
            </a:r>
          </a:p>
          <a:p>
            <a:pPr lvl="1"/>
            <a:r>
              <a:rPr lang="en-US" sz="1700"/>
              <a:t>RANKX(ALL(Table[Column]), Measure)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Business KPI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Profit = SUM(Revenue) - SUM(Cost)</a:t>
            </a:r>
          </a:p>
          <a:p>
            <a:pPr lvl="1"/>
            <a:r>
              <a:rPr lang="en-US" sz="1700"/>
              <a:t>Profit Margin = DIVIDE([Profit], SUM(Revenue))</a:t>
            </a:r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1F41A8D5-8AFF-C482-606F-643AE924B1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05" r="27782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Dynamic Titles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SELECTEDVALUE()</a:t>
            </a:r>
          </a:p>
          <a:p>
            <a:pPr lvl="1"/>
            <a:r>
              <a:rPr lang="en-US" sz="1700"/>
              <a:t>Used for dynamic report headings</a:t>
            </a:r>
          </a:p>
        </p:txBody>
      </p:sp>
      <p:pic>
        <p:nvPicPr>
          <p:cNvPr id="5" name="Picture 4" descr="Analog board showing flight information">
            <a:extLst>
              <a:ext uri="{FF2B5EF4-FFF2-40B4-BE49-F238E27FC236}">
                <a16:creationId xmlns:a16="http://schemas.microsoft.com/office/drawing/2014/main" id="{90A54548-7080-4512-87D2-68BAA3AEF5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88" r="29461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Using Variables (VAR)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Improves readability</a:t>
            </a:r>
          </a:p>
          <a:p>
            <a:pPr lvl="1"/>
            <a:r>
              <a:rPr lang="en-US" sz="1700"/>
              <a:t>Optimizes performance</a:t>
            </a:r>
          </a:p>
          <a:p>
            <a:pPr lvl="1"/>
            <a:r>
              <a:rPr lang="en-US" sz="1700"/>
              <a:t>Structure: VAR ... RETURN ...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2B867C4A-7763-8A10-F2B3-13289C5ECA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39" r="47611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nt">
            <a:extLst>
              <a:ext uri="{FF2B5EF4-FFF2-40B4-BE49-F238E27FC236}">
                <a16:creationId xmlns:a16="http://schemas.microsoft.com/office/drawing/2014/main" id="{3B1FBD85-8991-2A31-6956-1A07186D5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35025" y="-2"/>
            <a:ext cx="808975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252BC7B-4F7B-6E34-71DB-D06EFE32D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917" y="0"/>
            <a:ext cx="8567928" cy="6858000"/>
          </a:xfrm>
          <a:prstGeom prst="rect">
            <a:avLst/>
          </a:prstGeom>
          <a:ln>
            <a:noFill/>
          </a:ln>
          <a:effectLst>
            <a:outerShdw blurRad="317500" dist="127000" dir="2400000" sx="95000" sy="95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2F97F52-C578-5AB2-B699-50008FCBA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260" y="0"/>
            <a:ext cx="8570271" cy="2284810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429490"/>
            <a:ext cx="7192323" cy="1432273"/>
          </a:xfrm>
        </p:spPr>
        <p:txBody>
          <a:bodyPr>
            <a:normAutofit/>
          </a:bodyPr>
          <a:lstStyle/>
          <a:p>
            <a:r>
              <a:rPr lang="en-US" sz="4200"/>
              <a:t>Common DAX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880155"/>
            <a:ext cx="7192761" cy="3382498"/>
          </a:xfrm>
        </p:spPr>
        <p:txBody>
          <a:bodyPr anchor="ctr">
            <a:normAutofit/>
          </a:bodyPr>
          <a:lstStyle/>
          <a:p>
            <a:r>
              <a:rPr lang="en-US" sz="1700"/>
              <a:t>Circular Dependency</a:t>
            </a:r>
          </a:p>
          <a:p>
            <a:pPr lvl="1"/>
            <a:r>
              <a:rPr lang="en-US" sz="1700"/>
              <a:t>Incorrect Filter Context</a:t>
            </a:r>
          </a:p>
          <a:p>
            <a:pPr lvl="1"/>
            <a:r>
              <a:rPr lang="en-US" sz="1700"/>
              <a:t>Missing Relationships</a:t>
            </a:r>
          </a:p>
          <a:p>
            <a:pPr lvl="1"/>
            <a:r>
              <a:rPr lang="en-US" sz="1700"/>
              <a:t>Using Column instead of Measure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Best Practices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Prefer Measures over Columns</a:t>
            </a:r>
          </a:p>
          <a:p>
            <a:pPr lvl="1"/>
            <a:r>
              <a:rPr lang="en-US" sz="1700"/>
              <a:t>Optimize Data Model</a:t>
            </a:r>
          </a:p>
          <a:p>
            <a:pPr lvl="1"/>
            <a:r>
              <a:rPr lang="en-US" sz="1700"/>
              <a:t>Understand Context</a:t>
            </a:r>
          </a:p>
          <a:p>
            <a:pPr lvl="1"/>
            <a:r>
              <a:rPr lang="en-US" sz="1700"/>
              <a:t>Practice with Real Datasets</a:t>
            </a:r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19850059-D9E0-A705-B381-94A7D0BF06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46" r="1986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442</Words>
  <Application>Microsoft Office PowerPoint</Application>
  <PresentationFormat>On-screen Show (4:3)</PresentationFormat>
  <Paragraphs>98</Paragraphs>
  <Slides>25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Understanding DAX Functions in Power BI</vt:lpstr>
      <vt:lpstr>Introduction to DAX</vt:lpstr>
      <vt:lpstr>Why DAX is Important?</vt:lpstr>
      <vt:lpstr>Types of DAX Calculations</vt:lpstr>
      <vt:lpstr>Basic Aggregate Functions</vt:lpstr>
      <vt:lpstr>Example – Aggregate Function</vt:lpstr>
      <vt:lpstr>Logical Functions</vt:lpstr>
      <vt:lpstr>Example – IF Function</vt:lpstr>
      <vt:lpstr>Example – SWITCH Function</vt:lpstr>
      <vt:lpstr>Text Functions</vt:lpstr>
      <vt:lpstr>Date &amp; Time Functions</vt:lpstr>
      <vt:lpstr>Time Intelligence Functions</vt:lpstr>
      <vt:lpstr>Example – YTD Calculation</vt:lpstr>
      <vt:lpstr>CALCULATE Function (Most Important)</vt:lpstr>
      <vt:lpstr>Example – CALCULATE</vt:lpstr>
      <vt:lpstr>FILTER Function</vt:lpstr>
      <vt:lpstr>Relationship Functions</vt:lpstr>
      <vt:lpstr>Row Context vs Filter Context</vt:lpstr>
      <vt:lpstr>ALL Function</vt:lpstr>
      <vt:lpstr>RANKX Function</vt:lpstr>
      <vt:lpstr>Business KPI Example</vt:lpstr>
      <vt:lpstr>Dynamic Titles</vt:lpstr>
      <vt:lpstr>Using Variables (VAR)</vt:lpstr>
      <vt:lpstr>Common DAX Errors</vt:lpstr>
      <vt:lpstr>Best Practices &amp;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Hanish Pathak</cp:lastModifiedBy>
  <cp:revision>2</cp:revision>
  <dcterms:created xsi:type="dcterms:W3CDTF">2013-01-27T09:14:16Z</dcterms:created>
  <dcterms:modified xsi:type="dcterms:W3CDTF">2026-02-27T08:57:06Z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2026-02-27T08:57:04Z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85e89f01-74db-4f33-b6d4-cf1dafa1f386</vt:lpwstr>
  </property>
  <property fmtid="{D5CDD505-2E9C-101B-9397-08002B2CF9AE}" pid="7" name="MSIP_Label_defa4170-0d19-0005-0004-bc88714345d2_ActionId">
    <vt:lpwstr>ead6e167-75ae-42a2-8daf-984d6b318997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